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1B770B-7689-419A-B990-022899B0F76F}">
  <a:tblStyle styleId="{3B1B770B-7689-419A-B990-022899B0F76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f78e7e8e9_2_78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9f78e7e8e9_2_78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f78e7e8e9_2_86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f78e7e8e9_2_86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f78e7e8e9_2_92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f78e7e8e9_2_92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f78e7e8e9_2_99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f78e7e8e9_2_99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f78e7e8e9_2_115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9f78e7e8e9_2_115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f78e7e8e9_2_106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9f78e7e8e9_2_106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f78e7e8e9_2_119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9f78e7e8e9_2_119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f78e7e8e9_2_129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f78e7e8e9_2_129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f78e7e8e9_2_164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9f78e7e8e9_2_164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f78e7e8e9_2_137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9f78e7e8e9_2_137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f78e7e8e9_2_215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9f78e7e8e9_2_215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16" name="Google Shape;216;g39f78e7e8e9_2_215:notes"/>
          <p:cNvSpPr txBox="1"/>
          <p:nvPr>
            <p:ph idx="12" type="sldNum"/>
          </p:nvPr>
        </p:nvSpPr>
        <p:spPr>
          <a:xfrm>
            <a:off x="3884620" y="8685214"/>
            <a:ext cx="2971806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07fe16fac_0_3:notes"/>
          <p:cNvSpPr/>
          <p:nvPr>
            <p:ph idx="2" type="sldImg"/>
          </p:nvPr>
        </p:nvSpPr>
        <p:spPr>
          <a:xfrm>
            <a:off x="713122" y="1143000"/>
            <a:ext cx="5431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a07fe16fac_0_3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25" name="Google Shape;225;g3a07fe16fac_0_3:notes"/>
          <p:cNvSpPr txBox="1"/>
          <p:nvPr>
            <p:ph idx="12" type="sldNum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07fe16fac_0_14:notes"/>
          <p:cNvSpPr/>
          <p:nvPr>
            <p:ph idx="2" type="sldImg"/>
          </p:nvPr>
        </p:nvSpPr>
        <p:spPr>
          <a:xfrm>
            <a:off x="713122" y="1143000"/>
            <a:ext cx="5431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a07fe16fac_0_14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32" name="Google Shape;232;g3a07fe16fac_0_14:notes"/>
          <p:cNvSpPr txBox="1"/>
          <p:nvPr>
            <p:ph idx="12" type="sldNum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07fe16fac_0_23:notes"/>
          <p:cNvSpPr/>
          <p:nvPr>
            <p:ph idx="2" type="sldImg"/>
          </p:nvPr>
        </p:nvSpPr>
        <p:spPr>
          <a:xfrm>
            <a:off x="713122" y="1143000"/>
            <a:ext cx="5431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a07fe16fac_0_23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39" name="Google Shape;239;g3a07fe16fac_0_23:notes"/>
          <p:cNvSpPr txBox="1"/>
          <p:nvPr>
            <p:ph idx="12" type="sldNum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07fe16fac_0_32:notes"/>
          <p:cNvSpPr/>
          <p:nvPr>
            <p:ph idx="2" type="sldImg"/>
          </p:nvPr>
        </p:nvSpPr>
        <p:spPr>
          <a:xfrm>
            <a:off x="713122" y="1143000"/>
            <a:ext cx="5431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a07fe16fac_0_32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46" name="Google Shape;246;g3a07fe16fac_0_32:notes"/>
          <p:cNvSpPr txBox="1"/>
          <p:nvPr>
            <p:ph idx="12" type="sldNum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07fe16fac_0_38:notes"/>
          <p:cNvSpPr/>
          <p:nvPr>
            <p:ph idx="2" type="sldImg"/>
          </p:nvPr>
        </p:nvSpPr>
        <p:spPr>
          <a:xfrm>
            <a:off x="713122" y="1143000"/>
            <a:ext cx="5431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a07fe16fac_0_38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53" name="Google Shape;253;g3a07fe16fac_0_38:notes"/>
          <p:cNvSpPr txBox="1"/>
          <p:nvPr>
            <p:ph idx="12" type="sldNum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07fe16fac_0_47:notes"/>
          <p:cNvSpPr/>
          <p:nvPr>
            <p:ph idx="2" type="sldImg"/>
          </p:nvPr>
        </p:nvSpPr>
        <p:spPr>
          <a:xfrm>
            <a:off x="713122" y="1143000"/>
            <a:ext cx="5431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a07fe16fac_0_47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60" name="Google Shape;260;g3a07fe16fac_0_47:notes"/>
          <p:cNvSpPr txBox="1"/>
          <p:nvPr>
            <p:ph idx="12" type="sldNum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07fe16fac_0_56:notes"/>
          <p:cNvSpPr/>
          <p:nvPr>
            <p:ph idx="2" type="sldImg"/>
          </p:nvPr>
        </p:nvSpPr>
        <p:spPr>
          <a:xfrm>
            <a:off x="713122" y="1143000"/>
            <a:ext cx="5431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a07fe16fac_0_56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67" name="Google Shape;267;g3a07fe16fac_0_56:notes"/>
          <p:cNvSpPr txBox="1"/>
          <p:nvPr>
            <p:ph idx="12" type="sldNum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07fe16fac_0_65:notes"/>
          <p:cNvSpPr/>
          <p:nvPr>
            <p:ph idx="2" type="sldImg"/>
          </p:nvPr>
        </p:nvSpPr>
        <p:spPr>
          <a:xfrm>
            <a:off x="713122" y="1143000"/>
            <a:ext cx="5431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a07fe16fac_0_65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4" name="Google Shape;274;g3a07fe16fac_0_65:notes"/>
          <p:cNvSpPr txBox="1"/>
          <p:nvPr>
            <p:ph idx="12" type="sldNum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07fe16fac_0_74:notes"/>
          <p:cNvSpPr/>
          <p:nvPr>
            <p:ph idx="2" type="sldImg"/>
          </p:nvPr>
        </p:nvSpPr>
        <p:spPr>
          <a:xfrm>
            <a:off x="713122" y="1143000"/>
            <a:ext cx="5431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a07fe16fac_0_74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81" name="Google Shape;281;g3a07fe16fac_0_74:notes"/>
          <p:cNvSpPr txBox="1"/>
          <p:nvPr>
            <p:ph idx="12" type="sldNum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f78e7e8e9_2_174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9f78e7e8e9_2_174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88" name="Google Shape;288;g39f78e7e8e9_2_174:notes"/>
          <p:cNvSpPr txBox="1"/>
          <p:nvPr>
            <p:ph idx="12" type="sldNum"/>
          </p:nvPr>
        </p:nvSpPr>
        <p:spPr>
          <a:xfrm>
            <a:off x="3884620" y="8685214"/>
            <a:ext cx="2971806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07fe16fac_0_81:notes"/>
          <p:cNvSpPr/>
          <p:nvPr>
            <p:ph idx="2" type="sldImg"/>
          </p:nvPr>
        </p:nvSpPr>
        <p:spPr>
          <a:xfrm>
            <a:off x="713122" y="1143000"/>
            <a:ext cx="5431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a07fe16fac_0_81:notes"/>
          <p:cNvSpPr txBox="1"/>
          <p:nvPr>
            <p:ph idx="1" type="body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98" name="Google Shape;298;g3a07fe16fac_0_81:notes"/>
          <p:cNvSpPr txBox="1"/>
          <p:nvPr>
            <p:ph idx="12" type="sldNum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f78e7e8e9_2_200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9f78e7e8e9_2_200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08" name="Google Shape;308;g39f78e7e8e9_2_200:notes"/>
          <p:cNvSpPr txBox="1"/>
          <p:nvPr>
            <p:ph idx="12" type="sldNum"/>
          </p:nvPr>
        </p:nvSpPr>
        <p:spPr>
          <a:xfrm>
            <a:off x="3884620" y="8685214"/>
            <a:ext cx="2971806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f78e7e8e9_2_145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9f78e7e8e9_2_145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f78e7e8e9_2_224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9f78e7e8e9_2_224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200" spcFirstLastPara="1" rIns="91200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27" name="Google Shape;327;g39f78e7e8e9_2_224:notes"/>
          <p:cNvSpPr txBox="1"/>
          <p:nvPr>
            <p:ph idx="12" type="sldNum"/>
          </p:nvPr>
        </p:nvSpPr>
        <p:spPr>
          <a:xfrm>
            <a:off x="3884620" y="8685214"/>
            <a:ext cx="2971806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200" spcFirstLastPara="1" rIns="91200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f78e7e8e9_2_232:notes"/>
          <p:cNvSpPr txBox="1"/>
          <p:nvPr>
            <p:ph idx="1" type="body"/>
          </p:nvPr>
        </p:nvSpPr>
        <p:spPr>
          <a:xfrm>
            <a:off x="685802" y="4400550"/>
            <a:ext cx="5486410" cy="3600450"/>
          </a:xfrm>
          <a:prstGeom prst="rect">
            <a:avLst/>
          </a:prstGeom>
        </p:spPr>
        <p:txBody>
          <a:bodyPr anchorCtr="0" anchor="t" bIns="89200" lIns="89200" spcFirstLastPara="1" rIns="89200" wrap="square" tIns="8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9f78e7e8e9_2_232:notes"/>
          <p:cNvSpPr/>
          <p:nvPr>
            <p:ph idx="2" type="sldImg"/>
          </p:nvPr>
        </p:nvSpPr>
        <p:spPr>
          <a:xfrm>
            <a:off x="713122" y="1143000"/>
            <a:ext cx="5431768" cy="30859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206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2271713" y="5015750"/>
            <a:ext cx="2314575" cy="12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ur Brand Identity » PES University"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4652" y="107973"/>
            <a:ext cx="545459" cy="1009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3028950" y="5009363"/>
            <a:ext cx="3086100" cy="14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Our Brand Identity » PES University" id="83" name="Google Shape;8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4652" y="107973"/>
            <a:ext cx="545459" cy="1009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5" name="Google Shape;105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6" name="Google Shape;106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pulmonaryfibrosis360.com/pcp/suspecting-pulmonary-fibrosis/act-when-you-hear-dry-inspiratory-crackles" TargetMode="External"/><Relationship Id="rId4" Type="http://schemas.openxmlformats.org/officeDocument/2006/relationships/hyperlink" Target="https://pubmed.ncbi.nlm.nih.gov/29914454/" TargetMode="External"/><Relationship Id="rId9" Type="http://schemas.openxmlformats.org/officeDocument/2006/relationships/hyperlink" Target="https://www.mypathologyreport.ca/pathology-dictionary/fibrosis/" TargetMode="External"/><Relationship Id="rId5" Type="http://schemas.openxmlformats.org/officeDocument/2006/relationships/hyperlink" Target="https://www.mayoclinic.org/diseases-conditions/pulmonary-fibrosis/symptoms-causes/syc-20353690" TargetMode="External"/><Relationship Id="rId6" Type="http://schemas.openxmlformats.org/officeDocument/2006/relationships/hyperlink" Target="https://drkalpeshpanchal.com/facts-about-pulmonary-fibrosis/" TargetMode="External"/><Relationship Id="rId7" Type="http://schemas.openxmlformats.org/officeDocument/2006/relationships/hyperlink" Target="https://www.news-medical.net/health/What-is-Fibrosis.aspx" TargetMode="External"/><Relationship Id="rId8" Type="http://schemas.openxmlformats.org/officeDocument/2006/relationships/hyperlink" Target="https://pmc.ncbi.nlm.nih.gov/articles/PMC9963026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ur Brand Identity » PES University" id="132" name="Google Shape;13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469" y="1421771"/>
            <a:ext cx="1645569" cy="3046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>
            <p:ph idx="11" type="ftr"/>
          </p:nvPr>
        </p:nvSpPr>
        <p:spPr>
          <a:xfrm>
            <a:off x="2704909" y="4930680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PESU Proprietary</a:t>
            </a:r>
            <a:r>
              <a:rPr lang="en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  –</a:t>
            </a:r>
            <a:r>
              <a:rPr b="0" i="0" lang="en" sz="9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Capstone Project Approval - Team 20</a:t>
            </a:r>
            <a:endParaRPr/>
          </a:p>
        </p:txBody>
      </p:sp>
      <p:sp>
        <p:nvSpPr>
          <p:cNvPr id="134" name="Google Shape;134;p25"/>
          <p:cNvSpPr/>
          <p:nvPr/>
        </p:nvSpPr>
        <p:spPr>
          <a:xfrm>
            <a:off x="-461406" y="181698"/>
            <a:ext cx="6322988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Project Review #1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2030506" y="795058"/>
            <a:ext cx="4645958" cy="14542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7C5E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detection of Pulmonary fibrosis </a:t>
            </a:r>
            <a:endParaRPr b="1" sz="3000">
              <a:solidFill>
                <a:srgbClr val="7C5E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7C5E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Machine Learning</a:t>
            </a:r>
            <a:endParaRPr b="1" sz="3000">
              <a:solidFill>
                <a:srgbClr val="7C5E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/>
          <p:nvPr/>
        </p:nvSpPr>
        <p:spPr>
          <a:xfrm>
            <a:off x="755159" y="490793"/>
            <a:ext cx="70371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Project Review 7th Sem</a:t>
            </a:r>
            <a:endParaRPr sz="1100"/>
          </a:p>
          <a:p>
            <a:pPr indent="-254000" lvl="0" marL="2540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271540" y="1788521"/>
            <a:ext cx="9019196" cy="23524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F5496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detection of Pulmonary fibrosis with Machine Learning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F5496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</a:t>
            </a:r>
            <a:r>
              <a:rPr lang="en" sz="21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Capstone24; EC20</a:t>
            </a:r>
            <a:endParaRPr sz="210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F5496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Lakshmeesha Sir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628650" y="1167513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3CC"/>
              </a:buClr>
              <a:buSzPts val="1800"/>
              <a:buChar char="•"/>
            </a:pPr>
            <a:r>
              <a:rPr lang="en" sz="18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 </a:t>
            </a:r>
            <a:endParaRPr/>
          </a:p>
          <a:p>
            <a:pPr indent="-177800" lvl="0" marL="1778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3CC"/>
              </a:buClr>
              <a:buSzPts val="1800"/>
              <a:buChar char="•"/>
            </a:pPr>
            <a:r>
              <a:rPr lang="en" sz="18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/>
          </a:p>
          <a:p>
            <a:pPr indent="-177800" lvl="0" marL="1778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3CC"/>
              </a:buClr>
              <a:buSzPts val="1800"/>
              <a:buChar char="•"/>
            </a:pPr>
            <a:r>
              <a:rPr lang="en" sz="18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Motivation and Scope of the Project</a:t>
            </a:r>
            <a:endParaRPr/>
          </a:p>
          <a:p>
            <a:pPr indent="-177800" lvl="0" marL="1778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3CC"/>
              </a:buClr>
              <a:buSzPts val="1800"/>
              <a:buChar char="•"/>
            </a:pPr>
            <a:r>
              <a:rPr lang="en" sz="18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Literature Survey </a:t>
            </a:r>
            <a:endParaRPr/>
          </a:p>
          <a:p>
            <a:pPr indent="-177800" lvl="0" marL="1778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3CC"/>
              </a:buClr>
              <a:buSzPts val="1800"/>
              <a:buChar char="•"/>
            </a:pPr>
            <a:r>
              <a:rPr lang="en" sz="18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block diagram and flowchart</a:t>
            </a:r>
            <a:endParaRPr/>
          </a:p>
          <a:p>
            <a:pPr indent="-177800" lvl="0" marL="1778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3CC"/>
              </a:buClr>
              <a:buSzPts val="1800"/>
              <a:buChar char="•"/>
            </a:pPr>
            <a:r>
              <a:rPr lang="en" sz="18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(Phase-II &amp; Phase-III) Project Timeline using gantt chart. </a:t>
            </a:r>
            <a:endParaRPr/>
          </a:p>
          <a:p>
            <a:pPr indent="-177800" lvl="0" marL="1778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3CC"/>
              </a:buClr>
              <a:buSzPts val="1800"/>
              <a:buChar char="•"/>
            </a:pPr>
            <a:r>
              <a:rPr lang="en" sz="18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/>
          </a:p>
          <a:p>
            <a:pPr indent="-177800" lvl="0" marL="1778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3CC"/>
              </a:buClr>
              <a:buSzPts val="1800"/>
              <a:buChar char="•"/>
            </a:pPr>
            <a:r>
              <a:rPr lang="en" sz="18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 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48" name="Google Shape;148;p27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9" name="Google Shape;149;p27"/>
          <p:cNvSpPr/>
          <p:nvPr/>
        </p:nvSpPr>
        <p:spPr>
          <a:xfrm>
            <a:off x="2445684" y="1051396"/>
            <a:ext cx="5715000" cy="2738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6767137" y="544036"/>
            <a:ext cx="2373155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sz="23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2286000" y="1185866"/>
            <a:ext cx="5715000" cy="2738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3143250" y="857251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</a:t>
            </a:r>
            <a:endParaRPr sz="1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223558" y="1473074"/>
            <a:ext cx="8696885" cy="2977739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7C5E00"/>
                </a:solidFill>
                <a:latin typeface="Calibri"/>
                <a:ea typeface="Calibri"/>
                <a:cs typeface="Calibri"/>
                <a:sym typeface="Calibri"/>
              </a:rPr>
              <a:t>Fibrosis</a:t>
            </a:r>
            <a:endParaRPr b="1" sz="1400">
              <a:solidFill>
                <a:srgbClr val="7C5E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    Can be normal healing or pathological.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    Involves connective tissue deposition.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7C5E00"/>
                </a:solidFill>
                <a:latin typeface="Calibri"/>
                <a:ea typeface="Calibri"/>
                <a:cs typeface="Calibri"/>
                <a:sym typeface="Calibri"/>
              </a:rPr>
              <a:t>Extracellular Matrix (ECM)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    Helps in tissue repair.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    Excess ECM causes fibrosis/scarring.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7C5E00"/>
                </a:solidFill>
                <a:latin typeface="Calibri"/>
                <a:ea typeface="Calibri"/>
                <a:cs typeface="Calibri"/>
                <a:sym typeface="Calibri"/>
              </a:rPr>
              <a:t>Fibrotic Process</a:t>
            </a:r>
            <a:endParaRPr b="1" sz="1400">
              <a:solidFill>
                <a:srgbClr val="7C5E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   Severe progression → organ failure.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   Can lead to death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Note: Scarring results in the thickening and stiffening of the affected tissue, leading to the disruption of normal structure and function.</a:t>
            </a:r>
            <a:endParaRPr sz="14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0"/>
          <p:cNvSpPr/>
          <p:nvPr/>
        </p:nvSpPr>
        <p:spPr>
          <a:xfrm>
            <a:off x="2286000" y="1185866"/>
            <a:ext cx="5715000" cy="2738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0"/>
          <p:cNvSpPr txBox="1"/>
          <p:nvPr/>
        </p:nvSpPr>
        <p:spPr>
          <a:xfrm>
            <a:off x="3143250" y="857251"/>
            <a:ext cx="485775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Fibrosis &amp; Pulmonary Fibrosis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A diagram of a normal and fibrosis&#10;&#10;AI-generated content may be incorrect." id="171" name="Google Shape;1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872" y="1285261"/>
            <a:ext cx="3473213" cy="348973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0"/>
          <p:cNvSpPr txBox="1"/>
          <p:nvPr/>
        </p:nvSpPr>
        <p:spPr>
          <a:xfrm>
            <a:off x="231962" y="215153"/>
            <a:ext cx="4570318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3055C"/>
                </a:solidFill>
                <a:latin typeface="Calibri"/>
                <a:ea typeface="Calibri"/>
                <a:cs typeface="Calibri"/>
                <a:sym typeface="Calibri"/>
              </a:rPr>
              <a:t>Idiopathic pulmonary fibrosis (IPF) is a serious chronic (long term) disease that affects the tissue surrounding the air sacs, or alveoli, in the lungs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|--&gt; It  worsens over time.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1"/>
          <p:cNvSpPr/>
          <p:nvPr/>
        </p:nvSpPr>
        <p:spPr>
          <a:xfrm>
            <a:off x="2286000" y="1185866"/>
            <a:ext cx="5715000" cy="2738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3143250" y="857251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Symptoms – The dependencies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91645" y="1534645"/>
            <a:ext cx="8369112" cy="17312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Shortness of breath – After walking shorter distances 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Dry cough – For about months to years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Aching muscles and joints Loss of appetite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Chest discomfort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Tobacco smoking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Connective tissue diseasesDecrease in SPO2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Noto Sans Symbols"/>
              <a:buChar char="❖"/>
            </a:pPr>
            <a:r>
              <a:rPr lang="en" sz="1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Crepitations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" sz="1100">
                <a:solidFill>
                  <a:srgbClr val="001D35"/>
                </a:solidFill>
                <a:latin typeface="Calibri"/>
                <a:ea typeface="Calibri"/>
                <a:cs typeface="Calibri"/>
                <a:sym typeface="Calibri"/>
              </a:rPr>
              <a:t>Crepitations in the lungs are 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crackling or popping sounds that can be heard or felt when breathing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ABG – Tests the amount of O2 &amp; CO2 present -</a:t>
            </a:r>
            <a:r>
              <a:rPr lang="en" sz="1100">
                <a:solidFill>
                  <a:srgbClr val="001D35"/>
                </a:solidFill>
                <a:latin typeface="Calibri"/>
                <a:ea typeface="Calibri"/>
                <a:cs typeface="Calibri"/>
                <a:sym typeface="Calibri"/>
              </a:rPr>
              <a:t>a low oxygen level on an ABG test can suggest significant lung fibrosis is present. </a:t>
            </a:r>
            <a:endParaRPr sz="1100"/>
          </a:p>
        </p:txBody>
      </p:sp>
      <p:sp>
        <p:nvSpPr>
          <p:cNvPr id="181" name="Google Shape;181;p31"/>
          <p:cNvSpPr txBox="1"/>
          <p:nvPr/>
        </p:nvSpPr>
        <p:spPr>
          <a:xfrm>
            <a:off x="1319973" y="4611861"/>
            <a:ext cx="63436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3055C"/>
                </a:solidFill>
                <a:latin typeface="Arial"/>
                <a:ea typeface="Arial"/>
                <a:cs typeface="Arial"/>
                <a:sym typeface="Arial"/>
              </a:rPr>
              <a:t> Early diagnosis and treatment of IPF may increase lifespan and preserve quality of life.</a:t>
            </a:r>
            <a:endParaRPr sz="1400">
              <a:solidFill>
                <a:srgbClr val="6305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1"/>
          <p:cNvSpPr txBox="1"/>
          <p:nvPr/>
        </p:nvSpPr>
        <p:spPr>
          <a:xfrm>
            <a:off x="392326" y="3265272"/>
            <a:ext cx="8367067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1400"/>
              <a:buFont typeface="Noto Sans Symbols"/>
              <a:buChar char="❖"/>
            </a:pPr>
            <a:r>
              <a:rPr lang="en" sz="140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Reticulonodular opacities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" sz="1200">
                <a:solidFill>
                  <a:srgbClr val="B0ADAD"/>
                </a:solidFill>
                <a:latin typeface="Calibri"/>
                <a:ea typeface="Calibri"/>
                <a:cs typeface="Calibri"/>
                <a:sym typeface="Calibri"/>
              </a:rPr>
              <a:t>Reticulonodular opacities appear as fine, web-like (reticular) structures mixed with small nodules spread throughout the lungs.</a:t>
            </a:r>
            <a:endParaRPr sz="1200">
              <a:solidFill>
                <a:srgbClr val="B0ADA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1400"/>
              <a:buFont typeface="Noto Sans Symbols"/>
              <a:buChar char="❖"/>
            </a:pPr>
            <a:r>
              <a:rPr lang="en" sz="140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Lung texture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due to honeycombing patterns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1400"/>
              <a:buFont typeface="Noto Sans Symbols"/>
              <a:buChar char="❖"/>
            </a:pPr>
            <a:r>
              <a:rPr lang="en" sz="140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GGO [Ground glass opacity]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appears as hazy, cloud-like regions where the lung tissue is partially filled with fluid, inflammatory cells, or thickened interstitial tissue.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1"/>
          <p:cNvSpPr txBox="1"/>
          <p:nvPr/>
        </p:nvSpPr>
        <p:spPr>
          <a:xfrm>
            <a:off x="-1699710" y="70753"/>
            <a:ext cx="63436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3055C"/>
                </a:solidFill>
                <a:latin typeface="Arial"/>
                <a:ea typeface="Arial"/>
                <a:cs typeface="Arial"/>
                <a:sym typeface="Arial"/>
              </a:rPr>
              <a:t>Fibrosis Begins at the lower lung zone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2"/>
          <p:cNvSpPr/>
          <p:nvPr/>
        </p:nvSpPr>
        <p:spPr>
          <a:xfrm>
            <a:off x="2208770" y="506245"/>
            <a:ext cx="5715000" cy="2738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3205033" y="169907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Constraints / Dependencies / Assumptions </a:t>
            </a:r>
            <a:endParaRPr sz="1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32"/>
          <p:cNvSpPr txBox="1"/>
          <p:nvPr/>
        </p:nvSpPr>
        <p:spPr>
          <a:xfrm>
            <a:off x="345989" y="616293"/>
            <a:ext cx="7301298" cy="36241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Legal Implications</a:t>
            </a:r>
            <a:b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63055C"/>
                </a:solidFill>
                <a:latin typeface="Arial"/>
                <a:ea typeface="Arial"/>
                <a:cs typeface="Arial"/>
                <a:sym typeface="Arial"/>
              </a:rPr>
              <a:t>Data Privacy &amp; Ethics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project must comply with HIPAA (Health Insurance Portability and Accountability Act), GDPR (General Data Protection Regulation), and local regulations if patient data is involved.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Usage Limitations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Complementary to Expert Diagnosis: The system should be used as an assistive tool, not as a replacement for radiologists or pulmonologists.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Software Dependencies: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3055C"/>
                </a:solidFill>
                <a:latin typeface="Arial"/>
                <a:ea typeface="Arial"/>
                <a:cs typeface="Arial"/>
                <a:sym typeface="Arial"/>
              </a:rPr>
              <a:t>Machine Learning Frameworks: 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TensorFlow, PyTorch, or Scikit-learn.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3055C"/>
                </a:solidFill>
                <a:latin typeface="Arial"/>
                <a:ea typeface="Arial"/>
                <a:cs typeface="Arial"/>
                <a:sym typeface="Arial"/>
              </a:rPr>
              <a:t>Image Processing Libraries: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OpenCV, PIL (Python Imaging Library).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3055C"/>
                </a:solidFill>
                <a:latin typeface="Arial"/>
                <a:ea typeface="Arial"/>
                <a:cs typeface="Arial"/>
                <a:sym typeface="Arial"/>
              </a:rPr>
              <a:t>Medical Imaging Tools: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DICOM libraries (e.g., pydicom) for processing chest X-rays or CT scans.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3055C"/>
                </a:solidFill>
                <a:latin typeface="Arial"/>
                <a:ea typeface="Arial"/>
                <a:cs typeface="Arial"/>
                <a:sym typeface="Arial"/>
              </a:rPr>
              <a:t>Development Environment: 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Jupyter Notebook, Google Colab, or a high-performance computing setup.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345989" y="4076185"/>
            <a:ext cx="640914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Hardware Dependencies:</a:t>
            </a:r>
            <a:b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Sound Acquisition: Electronic microphone must be used in order to acquire auscultation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idx="11" type="ftr"/>
          </p:nvPr>
        </p:nvSpPr>
        <p:spPr>
          <a:xfrm>
            <a:off x="3000491" y="4857252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sp>
        <p:nvSpPr>
          <p:cNvPr id="198" name="Google Shape;198;p33"/>
          <p:cNvSpPr/>
          <p:nvPr/>
        </p:nvSpPr>
        <p:spPr>
          <a:xfrm>
            <a:off x="2355507" y="915468"/>
            <a:ext cx="5715000" cy="2738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3"/>
          <p:cNvSpPr txBox="1"/>
          <p:nvPr/>
        </p:nvSpPr>
        <p:spPr>
          <a:xfrm>
            <a:off x="3212757" y="487947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Existing Technologies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3"/>
          <p:cNvSpPr txBox="1"/>
          <p:nvPr/>
        </p:nvSpPr>
        <p:spPr>
          <a:xfrm>
            <a:off x="790973" y="1747759"/>
            <a:ext cx="3944531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High-resolution computed tomography (HRCT) scan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Exhaled breath analysis - Spirometers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Lung auscultation sounds </a:t>
            </a:r>
            <a:r>
              <a:rPr lang="en" sz="1100">
                <a:solidFill>
                  <a:srgbClr val="C1C1C1"/>
                </a:solidFill>
                <a:latin typeface="Calibri"/>
                <a:ea typeface="Calibri"/>
                <a:cs typeface="Calibri"/>
                <a:sym typeface="Calibri"/>
              </a:rPr>
              <a:t>– by Impulse Oscillometer (IOS)</a:t>
            </a:r>
            <a:endParaRPr sz="1100">
              <a:solidFill>
                <a:srgbClr val="C1C1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Electromyography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Forced vital capacity - through forceful breathing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129524" y="1341825"/>
            <a:ext cx="46059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Non – Invasive Detections: </a:t>
            </a:r>
            <a:endParaRPr b="1" sz="1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288625" y="3236527"/>
            <a:ext cx="4605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Invasive Detections: </a:t>
            </a:r>
            <a:endParaRPr b="1" sz="1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798359" y="3513516"/>
            <a:ext cx="5635862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Surgical Lung Biopsy (SLB)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broncoscopy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VideoAssisted Thoracoscopic Surgery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✔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Transbronchial Lung Cryobiopsy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4"/>
          <p:cNvSpPr/>
          <p:nvPr/>
        </p:nvSpPr>
        <p:spPr>
          <a:xfrm>
            <a:off x="2286000" y="1185866"/>
            <a:ext cx="5715000" cy="2738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4"/>
          <p:cNvSpPr txBox="1"/>
          <p:nvPr/>
        </p:nvSpPr>
        <p:spPr>
          <a:xfrm>
            <a:off x="3143250" y="857251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Distribution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ap of the world&#10;&#10;AI-generated content may be incorrect." id="211" name="Google Shape;21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9811" y="1282758"/>
            <a:ext cx="3718509" cy="359201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4"/>
          <p:cNvSpPr txBox="1"/>
          <p:nvPr/>
        </p:nvSpPr>
        <p:spPr>
          <a:xfrm>
            <a:off x="82672" y="343415"/>
            <a:ext cx="7811015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new cases of IPF per 10,000 people in different countries.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Pulmonary Fibrosis is more frequently reported in developed countries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(North America, Europe, Japan).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sp>
        <p:nvSpPr>
          <p:cNvPr id="219" name="Google Shape;219;p35"/>
          <p:cNvSpPr/>
          <p:nvPr/>
        </p:nvSpPr>
        <p:spPr>
          <a:xfrm>
            <a:off x="2266325" y="344053"/>
            <a:ext cx="5715000" cy="273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5"/>
          <p:cNvSpPr txBox="1"/>
          <p:nvPr/>
        </p:nvSpPr>
        <p:spPr>
          <a:xfrm>
            <a:off x="1409075" y="-8"/>
            <a:ext cx="657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Literature Survey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1" name="Google Shape;221;p35"/>
          <p:cNvGraphicFramePr/>
          <p:nvPr/>
        </p:nvGraphicFramePr>
        <p:xfrm>
          <a:off x="182249" y="5322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{3B1B770B-7689-419A-B990-022899B0F76F}</a:tableStyleId>
              </a:tblPr>
              <a:tblGrid>
                <a:gridCol w="2130200"/>
                <a:gridCol w="1986275"/>
                <a:gridCol w="2210175"/>
                <a:gridCol w="1915875"/>
              </a:tblGrid>
              <a:tr h="69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Details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 of paper, Techniques/Methods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12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2025 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Predicting Risk of Pulmonary Fibrosis Formation in PASC Patients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Presence of misclassification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115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2025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AI-Driven Early Prediction of Pulmonary Fibrosis Using Deep Learning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\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Data Imbalance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Lack of Clinical Validation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Limited Generalization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Predicting Pulmonary Fibrosis Progression Using EfficientNet-LSTM Model: A Hybrid Approach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idx="11" type="ftr"/>
          </p:nvPr>
        </p:nvSpPr>
        <p:spPr>
          <a:xfrm>
            <a:off x="2704910" y="4968320"/>
            <a:ext cx="3734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graphicFrame>
        <p:nvGraphicFramePr>
          <p:cNvPr id="228" name="Google Shape;228;p36"/>
          <p:cNvGraphicFramePr/>
          <p:nvPr/>
        </p:nvGraphicFramePr>
        <p:xfrm>
          <a:off x="125099" y="188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{3B1B770B-7689-419A-B990-022899B0F76F}</a:tableStyleId>
              </a:tblPr>
              <a:tblGrid>
                <a:gridCol w="2130200"/>
                <a:gridCol w="1986275"/>
                <a:gridCol w="2210175"/>
                <a:gridCol w="1915875"/>
              </a:tblGrid>
              <a:tr h="69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Details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 of paper, Techniques/Methods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12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2025 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Unraveling Pulmonary Fibrosis Deep Learning Transfer Learning for Diagnosis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Presence of misclassification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115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2025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High-Performance Detection of Pulmonary Diseases in CT Images Using PFC-DenseNet121 and Binary Robust Independent Elementary Features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\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Data Imbalance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Lack of Clinical Validation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Limited Generalization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Elevating Cystic Fibrosis Detection in Lungs using HRCT Images with a Cutting-Edge CNN-Based Approach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idx="11" type="ftr"/>
          </p:nvPr>
        </p:nvSpPr>
        <p:spPr>
          <a:xfrm>
            <a:off x="2704910" y="4968320"/>
            <a:ext cx="3734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graphicFrame>
        <p:nvGraphicFramePr>
          <p:cNvPr id="235" name="Google Shape;235;p37"/>
          <p:cNvGraphicFramePr/>
          <p:nvPr/>
        </p:nvGraphicFramePr>
        <p:xfrm>
          <a:off x="125099" y="188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{3B1B770B-7689-419A-B990-022899B0F76F}</a:tableStyleId>
              </a:tblPr>
              <a:tblGrid>
                <a:gridCol w="2130200"/>
                <a:gridCol w="1986275"/>
                <a:gridCol w="2210175"/>
                <a:gridCol w="1915875"/>
              </a:tblGrid>
              <a:tr h="69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Details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 of paper, Techniques/Methods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12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2024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Prediction Of Pulmonary Fibrosis Disease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Presence of misclassification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115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2024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FibroRegNet: A Regression Framework for the Pulmonary Fibrosis Prognosis Prediction Using a Convolutional Spatial Transformer Network</a:t>
                      </a:r>
                      <a:endParaRPr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\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Data Imbalance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Lack of Clinical Validation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Limited Generalization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Detection of Idiopathic Pulmonary Fibrosis Lesion Area Based on Transfer Learning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idx="11" type="ftr"/>
          </p:nvPr>
        </p:nvSpPr>
        <p:spPr>
          <a:xfrm>
            <a:off x="2704910" y="4968320"/>
            <a:ext cx="3734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graphicFrame>
        <p:nvGraphicFramePr>
          <p:cNvPr id="242" name="Google Shape;242;p38"/>
          <p:cNvGraphicFramePr/>
          <p:nvPr/>
        </p:nvGraphicFramePr>
        <p:xfrm>
          <a:off x="125099" y="188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{3B1B770B-7689-419A-B990-022899B0F76F}</a:tableStyleId>
              </a:tblPr>
              <a:tblGrid>
                <a:gridCol w="2130200"/>
                <a:gridCol w="1986275"/>
                <a:gridCol w="2210175"/>
                <a:gridCol w="1915875"/>
              </a:tblGrid>
              <a:tr h="69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Details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 of paper, Techniques/Methods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12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2024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Enhanced Pulmonary Pattern Classification in HRCT Images Using Advanced Data Augmentation Strategies and Fine-Tuned CNN Models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Presence of misclassification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115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2024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Accurate Prediction of Pulmonary Fibrosis Progression Using EfficientNet and Quantile Regression: A High Performing Approach</a:t>
                      </a:r>
                      <a:endParaRPr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\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Data Imbalance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Lack of Clinical Validation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Limited Generalization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Identification of Molecular Biomarkers and Key Pathways among Idiopathic pulmonary fibrosis (IPF), Chronic Obstructive Pulmonary Disease (COPD) and Lung cancer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idx="11" type="ftr"/>
          </p:nvPr>
        </p:nvSpPr>
        <p:spPr>
          <a:xfrm>
            <a:off x="2704910" y="4968320"/>
            <a:ext cx="3734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graphicFrame>
        <p:nvGraphicFramePr>
          <p:cNvPr id="249" name="Google Shape;249;p39"/>
          <p:cNvGraphicFramePr/>
          <p:nvPr/>
        </p:nvGraphicFramePr>
        <p:xfrm>
          <a:off x="125099" y="188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{3B1B770B-7689-419A-B990-022899B0F76F}</a:tableStyleId>
              </a:tblPr>
              <a:tblGrid>
                <a:gridCol w="2130200"/>
                <a:gridCol w="1986275"/>
                <a:gridCol w="2210175"/>
                <a:gridCol w="1915875"/>
              </a:tblGrid>
              <a:tr h="69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Details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 of paper, Techniques/Methods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12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2024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Enhanced Pulmonary Pattern Classification in HRCT Images Using Advanced Data Augmentation Strategies and Fine-Tuned CNN Models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Presence of misclassification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115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2024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Accurate Prediction of Pulmonary Fibrosis Progression Using EfficientNet and Quantile Regression: A High Performing Approach</a:t>
                      </a:r>
                      <a:endParaRPr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\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Data Imbalance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Lack of Clinical Validation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Limited Generalization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Google Shape;255;p40"/>
          <p:cNvGraphicFramePr/>
          <p:nvPr/>
        </p:nvGraphicFramePr>
        <p:xfrm>
          <a:off x="125099" y="188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{3B1B770B-7689-419A-B990-022899B0F76F}</a:tableStyleId>
              </a:tblPr>
              <a:tblGrid>
                <a:gridCol w="2130200"/>
                <a:gridCol w="1986275"/>
                <a:gridCol w="2210175"/>
                <a:gridCol w="1915875"/>
              </a:tblGrid>
              <a:tr h="69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Details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 of paper, Techniques/Methods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57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2024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Identification of Molecular Biomarkers and Key Pathways among Idiopathic pulmonary fibrosis (IPF), Chronic Obstructive Pulmonary Disease (COPD) and Lung cancer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Presence of misclassification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115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2023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Domain Generalization for Diagnosis of Pulmonary Fibrosis Using Dose-Invariant Feature Selection</a:t>
                      </a:r>
                      <a:endParaRPr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\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Data Imbalance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Lack of Clinical Validation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Limited Generalization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Enhanced Fusion Approach to Diagnose ILD and Improve Patient Outcomes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  <p:sp>
        <p:nvSpPr>
          <p:cNvPr id="256" name="Google Shape;256;p40"/>
          <p:cNvSpPr txBox="1"/>
          <p:nvPr>
            <p:ph idx="11" type="ftr"/>
          </p:nvPr>
        </p:nvSpPr>
        <p:spPr>
          <a:xfrm>
            <a:off x="2704910" y="4968320"/>
            <a:ext cx="3734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" name="Google Shape;262;p41"/>
          <p:cNvGraphicFramePr/>
          <p:nvPr/>
        </p:nvGraphicFramePr>
        <p:xfrm>
          <a:off x="125099" y="188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{3B1B770B-7689-419A-B990-022899B0F76F}</a:tableStyleId>
              </a:tblPr>
              <a:tblGrid>
                <a:gridCol w="2130200"/>
                <a:gridCol w="1986275"/>
                <a:gridCol w="2210175"/>
                <a:gridCol w="1915875"/>
              </a:tblGrid>
              <a:tr h="69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Details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 of paper, Techniques/Methods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57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2023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Improving Idiopathic Pulmonary Fibrosis Damage Prediction with Segmented Images in a Deep Learning Model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Presence of misclassification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115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2023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AI Approaches for Pulmonary Disease Forecast</a:t>
                      </a:r>
                      <a:endParaRPr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\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Data Imbalance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Lack of Clinical Validation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Limited Generalization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Lung Function Decline Predicting Using Improved EfficientNet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  <p:sp>
        <p:nvSpPr>
          <p:cNvPr id="263" name="Google Shape;263;p41"/>
          <p:cNvSpPr txBox="1"/>
          <p:nvPr>
            <p:ph idx="11" type="ftr"/>
          </p:nvPr>
        </p:nvSpPr>
        <p:spPr>
          <a:xfrm>
            <a:off x="2704910" y="4968320"/>
            <a:ext cx="3734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Google Shape;269;p42"/>
          <p:cNvGraphicFramePr/>
          <p:nvPr/>
        </p:nvGraphicFramePr>
        <p:xfrm>
          <a:off x="125099" y="188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{3B1B770B-7689-419A-B990-022899B0F76F}</a:tableStyleId>
              </a:tblPr>
              <a:tblGrid>
                <a:gridCol w="2130200"/>
                <a:gridCol w="1986275"/>
                <a:gridCol w="2210175"/>
                <a:gridCol w="1915875"/>
              </a:tblGrid>
              <a:tr h="69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Details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 of paper, Techniques/Methods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57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2022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A combined CNN-LSTM and LSTM-QRNN model for prediction of Idiopathic Pulmonary Fibrosis Progression using CT Scans and Clinical Data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Presence of misclassification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86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2022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Scalable Regression Model for Pulmonary Fibrosis</a:t>
                      </a:r>
                      <a:endParaRPr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\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Data Imbalance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Lack of Clinical Validation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Limited Generalization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2022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Estimating Lung Capacity in Pulmonary Fibrosis Patients via Computerized Tomography (CT) Scan Data and Machine Learning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  <p:sp>
        <p:nvSpPr>
          <p:cNvPr id="270" name="Google Shape;270;p42"/>
          <p:cNvSpPr txBox="1"/>
          <p:nvPr>
            <p:ph idx="11" type="ftr"/>
          </p:nvPr>
        </p:nvSpPr>
        <p:spPr>
          <a:xfrm>
            <a:off x="2704910" y="4968320"/>
            <a:ext cx="3734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" name="Google Shape;276;p43"/>
          <p:cNvGraphicFramePr/>
          <p:nvPr/>
        </p:nvGraphicFramePr>
        <p:xfrm>
          <a:off x="125099" y="188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{3B1B770B-7689-419A-B990-022899B0F76F}</a:tableStyleId>
              </a:tblPr>
              <a:tblGrid>
                <a:gridCol w="2130200"/>
                <a:gridCol w="1986275"/>
                <a:gridCol w="2210175"/>
                <a:gridCol w="1915875"/>
              </a:tblGrid>
              <a:tr h="69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Details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 of paper, Techniques/Methods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57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2022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Analysis of Idiopathic Pulmonary Fibrosis through Machine Learning Techniques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Presence of misclassification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86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2022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Prediction of Pulmonary Fibrosis Progression using CNN and Regression</a:t>
                      </a:r>
                      <a:endParaRPr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/>
                        <a:t>\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Data Imbalance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Lack of Clinical Validation</a:t>
                      </a:r>
                      <a:endParaRPr sz="14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/>
                        <a:t>Limited Generalization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 Analysis of Idiopathic Pulmonary Fibrosis Progression from OSIC Dataset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  <p:sp>
        <p:nvSpPr>
          <p:cNvPr id="277" name="Google Shape;277;p43"/>
          <p:cNvSpPr txBox="1"/>
          <p:nvPr>
            <p:ph idx="11" type="ftr"/>
          </p:nvPr>
        </p:nvSpPr>
        <p:spPr>
          <a:xfrm>
            <a:off x="2704910" y="4968320"/>
            <a:ext cx="3734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3" name="Google Shape;283;p44"/>
          <p:cNvGraphicFramePr/>
          <p:nvPr/>
        </p:nvGraphicFramePr>
        <p:xfrm>
          <a:off x="125099" y="188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{3B1B770B-7689-419A-B990-022899B0F76F}</a:tableStyleId>
              </a:tblPr>
              <a:tblGrid>
                <a:gridCol w="2130200"/>
                <a:gridCol w="1986275"/>
                <a:gridCol w="2210175"/>
                <a:gridCol w="1915875"/>
              </a:tblGrid>
              <a:tr h="69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Details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 of paper, Techniques/Methods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Limitations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157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2020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A regression-based machine learning approach for the prediction of lung function decline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lvl="0" marL="215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Presence of misclassification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86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  <p:sp>
        <p:nvSpPr>
          <p:cNvPr id="284" name="Google Shape;284;p44"/>
          <p:cNvSpPr txBox="1"/>
          <p:nvPr>
            <p:ph idx="11" type="ftr"/>
          </p:nvPr>
        </p:nvSpPr>
        <p:spPr>
          <a:xfrm>
            <a:off x="2704910" y="4968320"/>
            <a:ext cx="3734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sp>
        <p:nvSpPr>
          <p:cNvPr id="291" name="Google Shape;291;p45"/>
          <p:cNvSpPr/>
          <p:nvPr/>
        </p:nvSpPr>
        <p:spPr>
          <a:xfrm>
            <a:off x="2286000" y="498522"/>
            <a:ext cx="5715000" cy="2738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5"/>
          <p:cNvSpPr txBox="1"/>
          <p:nvPr/>
        </p:nvSpPr>
        <p:spPr>
          <a:xfrm>
            <a:off x="299963" y="2196313"/>
            <a:ext cx="8149590" cy="258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Challenges in Early Detection: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⮚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⮚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Project Goal:</a:t>
            </a:r>
            <a:endParaRPr sz="1100"/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⮚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⮚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2202592" y="148281"/>
            <a:ext cx="58864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Goals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5"/>
          <p:cNvSpPr txBox="1"/>
          <p:nvPr/>
        </p:nvSpPr>
        <p:spPr>
          <a:xfrm>
            <a:off x="301196" y="890356"/>
            <a:ext cx="7254960" cy="11310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Technology Failure Risks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63055C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63055C"/>
                </a:solidFill>
                <a:latin typeface="Calibri"/>
                <a:ea typeface="Calibri"/>
                <a:cs typeface="Calibri"/>
                <a:sym typeface="Calibri"/>
              </a:rPr>
              <a:t>Model Performance Issues: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ML model may have low accuracy, leading to misdiagnoses.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63055C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63055C"/>
                </a:solidFill>
                <a:latin typeface="Calibri"/>
                <a:ea typeface="Calibri"/>
                <a:cs typeface="Calibri"/>
                <a:sym typeface="Calibri"/>
              </a:rPr>
              <a:t>Overfitting Risk: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model might perform well on the training set but fail on new data due to overfitting.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63055C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63055C"/>
                </a:solidFill>
                <a:latin typeface="Calibri"/>
                <a:ea typeface="Calibri"/>
                <a:cs typeface="Calibri"/>
                <a:sym typeface="Calibri"/>
              </a:rPr>
              <a:t>Data Preprocessing Errors: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Poor quality or noisy data can lead to inaccurate model predictions.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/>
          <p:nvPr>
            <p:ph idx="11" type="ftr"/>
          </p:nvPr>
        </p:nvSpPr>
        <p:spPr>
          <a:xfrm>
            <a:off x="2704910" y="4968320"/>
            <a:ext cx="3734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sp>
        <p:nvSpPr>
          <p:cNvPr id="301" name="Google Shape;301;p46"/>
          <p:cNvSpPr/>
          <p:nvPr/>
        </p:nvSpPr>
        <p:spPr>
          <a:xfrm>
            <a:off x="2286000" y="498522"/>
            <a:ext cx="5715000" cy="273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6"/>
          <p:cNvSpPr txBox="1"/>
          <p:nvPr/>
        </p:nvSpPr>
        <p:spPr>
          <a:xfrm>
            <a:off x="299963" y="2196313"/>
            <a:ext cx="8149500" cy="2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Challenges in Early Detection: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⮚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⮚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Project Goal:</a:t>
            </a:r>
            <a:endParaRPr sz="1100"/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⮚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⮚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6"/>
          <p:cNvSpPr txBox="1"/>
          <p:nvPr/>
        </p:nvSpPr>
        <p:spPr>
          <a:xfrm>
            <a:off x="2202592" y="148281"/>
            <a:ext cx="5886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Goals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6"/>
          <p:cNvSpPr txBox="1"/>
          <p:nvPr/>
        </p:nvSpPr>
        <p:spPr>
          <a:xfrm>
            <a:off x="301196" y="890356"/>
            <a:ext cx="72549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Technology Failure Risks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63055C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63055C"/>
                </a:solidFill>
                <a:latin typeface="Calibri"/>
                <a:ea typeface="Calibri"/>
                <a:cs typeface="Calibri"/>
                <a:sym typeface="Calibri"/>
              </a:rPr>
              <a:t>Model Performance Issues: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ML model may have low accuracy, leading to misdiagnoses.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63055C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63055C"/>
                </a:solidFill>
                <a:latin typeface="Calibri"/>
                <a:ea typeface="Calibri"/>
                <a:cs typeface="Calibri"/>
                <a:sym typeface="Calibri"/>
              </a:rPr>
              <a:t>Overfitting Risk: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model might perform well on the training set but fail on new data due to overfitting.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63055C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63055C"/>
                </a:solidFill>
                <a:latin typeface="Calibri"/>
                <a:ea typeface="Calibri"/>
                <a:cs typeface="Calibri"/>
                <a:sym typeface="Calibri"/>
              </a:rPr>
              <a:t>Data Preprocessing Errors: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Poor quality or noisy data can lead to inaccurate model predictions.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7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sp>
        <p:nvSpPr>
          <p:cNvPr id="311" name="Google Shape;311;p47"/>
          <p:cNvSpPr/>
          <p:nvPr/>
        </p:nvSpPr>
        <p:spPr>
          <a:xfrm>
            <a:off x="2286000" y="1185866"/>
            <a:ext cx="5715000" cy="2738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7"/>
          <p:cNvSpPr txBox="1"/>
          <p:nvPr/>
        </p:nvSpPr>
        <p:spPr>
          <a:xfrm>
            <a:off x="1428750" y="857251"/>
            <a:ext cx="65722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7"/>
          <p:cNvSpPr txBox="1"/>
          <p:nvPr/>
        </p:nvSpPr>
        <p:spPr>
          <a:xfrm>
            <a:off x="243697" y="1029103"/>
            <a:ext cx="8656607" cy="36600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F549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F5496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Capstone-II deliverables</a:t>
            </a:r>
            <a:endParaRPr sz="15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     Data Collection &amp; Preprocessing Plan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     Machine Learning Model Development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F5496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Capstone-III deliverables</a:t>
            </a:r>
            <a:endParaRPr sz="1500">
              <a:solidFill>
                <a:srgbClr val="2F549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Model Evaluation &amp; Testing</a:t>
            </a:r>
            <a:endParaRPr sz="1100"/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    Prototype App Development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F5496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Capstone-IV deliverables </a:t>
            </a:r>
            <a:endParaRPr sz="1100"/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 Model Optimization &amp; Fine-Tuning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   End-to-End System Integration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 User Testing &amp; Validation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F549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8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8"/>
          <p:cNvSpPr/>
          <p:nvPr/>
        </p:nvSpPr>
        <p:spPr>
          <a:xfrm>
            <a:off x="2286000" y="1185866"/>
            <a:ext cx="5715000" cy="2738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8"/>
          <p:cNvSpPr txBox="1"/>
          <p:nvPr/>
        </p:nvSpPr>
        <p:spPr>
          <a:xfrm>
            <a:off x="3143250" y="857251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Model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" name="Google Shape;321;p48"/>
          <p:cNvGraphicFramePr/>
          <p:nvPr/>
        </p:nvGraphicFramePr>
        <p:xfrm>
          <a:off x="448887" y="130413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{3B1B770B-7689-419A-B990-022899B0F76F}</a:tableStyleId>
              </a:tblPr>
              <a:tblGrid>
                <a:gridCol w="2347300"/>
                <a:gridCol w="2347300"/>
              </a:tblGrid>
              <a:tr h="20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Performed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</a:tr>
              <a:tr h="3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 Acquisition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Accept X-ray, lung sound, and symptoms data from users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3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Preprocessing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Noise reduction, image enhancement, feature extraction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Model Processing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CNN for X-rays, Spectrogram CNN for lung sounds, Decision model for symptoms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3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Fusion &amp; Risk Prediction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combines inputs to determine fibrosis risk level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Generation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 reports, probability scores, and personalized health recommendations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20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 &amp; Compliance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encryption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22" name="Google Shape;32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5142" y="1714380"/>
            <a:ext cx="2243450" cy="171473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8"/>
          <p:cNvSpPr txBox="1"/>
          <p:nvPr/>
        </p:nvSpPr>
        <p:spPr>
          <a:xfrm>
            <a:off x="5679671" y="3747605"/>
            <a:ext cx="3202478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ZCR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High for fibrotic lung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RMS Energy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Lower for fibrotic lung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Fibrotic Lung sounds are at high frequency |– </a:t>
            </a:r>
            <a:r>
              <a:rPr lang="en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High spectral Centroid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sp>
        <p:nvSpPr>
          <p:cNvPr id="330" name="Google Shape;330;p49"/>
          <p:cNvSpPr/>
          <p:nvPr/>
        </p:nvSpPr>
        <p:spPr>
          <a:xfrm>
            <a:off x="2286000" y="436738"/>
            <a:ext cx="5715000" cy="2738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9"/>
          <p:cNvSpPr txBox="1"/>
          <p:nvPr/>
        </p:nvSpPr>
        <p:spPr>
          <a:xfrm>
            <a:off x="1567763" y="92678"/>
            <a:ext cx="65722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1100"/>
          </a:p>
        </p:txBody>
      </p:sp>
      <p:sp>
        <p:nvSpPr>
          <p:cNvPr id="332" name="Google Shape;332;p49"/>
          <p:cNvSpPr txBox="1"/>
          <p:nvPr/>
        </p:nvSpPr>
        <p:spPr>
          <a:xfrm>
            <a:off x="135575" y="596616"/>
            <a:ext cx="8656607" cy="37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F549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Char char="•"/>
            </a:pPr>
            <a:r>
              <a:rPr lang="e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https://www.pulmonaryfibrosis360.com/pcp/suspecting-pulmonary-fibrosis/act-when-you-hear-dry-inspiratory-crackles</a:t>
            </a:r>
            <a:endParaRPr sz="1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Char char="•"/>
            </a:pPr>
            <a:r>
              <a:rPr lang="e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https://pubmed.ncbi.nlm.nih.gov/29914454/</a:t>
            </a:r>
            <a:endParaRPr sz="1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Computer-Aided Diagnosis System for Lung Fibrosis: From the Effect of Radiomic Features and Multi-Layer-Perceptron Mixers to Pre-Clinical Evaluation</a:t>
            </a:r>
            <a:endParaRPr sz="1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Char char="•"/>
            </a:pPr>
            <a:r>
              <a:rPr lang="e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https://www.mayoclinic.org/diseases-conditions/pulmonary-fibrosis/symptoms-causes/syc-20353690</a:t>
            </a:r>
            <a:endParaRPr sz="1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Char char="•"/>
            </a:pPr>
            <a:r>
              <a:rPr lang="e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https://drkalpeshpanchal.com/facts-about-pulmonary-fibrosis/</a:t>
            </a:r>
            <a:endParaRPr sz="1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Char char="•"/>
            </a:pPr>
            <a:r>
              <a:rPr lang="e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https://www.news-medical.net/health/What-is-Fibrosis.aspx</a:t>
            </a:r>
            <a:endParaRPr sz="1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Char char="•"/>
            </a:pPr>
            <a:r>
              <a:rPr lang="e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https://pmc.ncbi.nlm.nih.gov/articles/PMC9963026/</a:t>
            </a:r>
            <a:endParaRPr sz="1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508000" marR="0" rtl="0" algn="just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Char char="•"/>
            </a:pPr>
            <a:r>
              <a:rPr lang="e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https://www.mypathologyreport.ca/pathology-dictionary/fibrosis/</a:t>
            </a:r>
            <a:endParaRPr sz="1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0"/>
          <p:cNvSpPr txBox="1"/>
          <p:nvPr>
            <p:ph idx="11" type="ftr"/>
          </p:nvPr>
        </p:nvSpPr>
        <p:spPr>
          <a:xfrm>
            <a:off x="2704909" y="4968319"/>
            <a:ext cx="3734181" cy="187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PESU Proprietary – Capstone Project Approval - Team 20</a:t>
            </a:r>
            <a:endParaRPr/>
          </a:p>
        </p:txBody>
      </p:sp>
      <p:sp>
        <p:nvSpPr>
          <p:cNvPr id="338" name="Google Shape;338;p50"/>
          <p:cNvSpPr/>
          <p:nvPr/>
        </p:nvSpPr>
        <p:spPr>
          <a:xfrm>
            <a:off x="3278566" y="2514600"/>
            <a:ext cx="1879985" cy="14542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100"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